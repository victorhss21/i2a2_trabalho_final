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22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10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143141" cy="685799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143141" cy="118581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334500" y="-1679267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1023296" y="4149973"/>
            <a:ext cx="3810305" cy="3810305"/>
          </a:xfrm>
          <a:prstGeom prst="ellipse">
            <a:avLst/>
          </a:prstGeom>
          <a:solidFill>
            <a:srgbClr val="2CA02C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0" y="6453464"/>
            <a:ext cx="13143141" cy="31448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 flipV="1">
            <a:off x="0" y="6835769"/>
            <a:ext cx="14727677" cy="45719"/>
          </a:xfrm>
          <a:prstGeom prst="rect">
            <a:avLst/>
          </a:prstGeom>
          <a:solidFill>
            <a:srgbClr val="E9EC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28600" y="6567512"/>
            <a:ext cx="3510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655534" y="1220860"/>
            <a:ext cx="114876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🌍 TOUR EXTRACTION SYSTEM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2168569" y="2049307"/>
            <a:ext cx="98919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Inteligente de Extração Automática de Tarifários Turísticos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27462" y="2782656"/>
            <a:ext cx="7619695" cy="457200"/>
          </a:xfrm>
          <a:prstGeom prst="roundRect">
            <a:avLst>
              <a:gd name="adj" fmla="val 16667"/>
            </a:avLst>
          </a:prstGeom>
          <a:solidFill>
            <a:srgbClr val="FF7F0E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025403" y="2845749"/>
            <a:ext cx="59728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"De 3 horas para 10 minutos: Agentes Autônomos em Ação"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1695" y="4839806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287 – I2A2 ACADEMY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1695" y="5182706"/>
            <a:ext cx="5410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Bruno Leão • Victor Hugo • Jander Alves • Gleice Clementino • Wagner Lemos, Wilson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80302" y="4684165"/>
            <a:ext cx="4153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CURSO: Agentes Autônomos com Redes Generativas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62114" y="4950255"/>
            <a:ext cx="3372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CLIENTE: iFriend (Marketplace de Turismo)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09279" y="5217260"/>
            <a:ext cx="1819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DATA: Novembro 2025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737799" y="6420002"/>
            <a:ext cx="1239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Feito com Genspark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F7F0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211666" y="6581851"/>
            <a:ext cx="2839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3951"/>
            <a:ext cx="39959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🔴 O Desafio Operacional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104595"/>
            <a:ext cx="11277295" cy="533095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7200" y="1104595"/>
            <a:ext cx="38405" cy="533095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081174" y="1209751"/>
            <a:ext cx="82488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"R$60 e 3 horas desperdiçados por catálogo processado manualmente"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476402" cy="476402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9846" y="1971446"/>
            <a:ext cx="190195" cy="1901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2476195"/>
            <a:ext cx="476402" cy="476402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57200" y="3771900"/>
            <a:ext cx="476402" cy="476402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57200" y="4419295"/>
            <a:ext cx="476402" cy="476402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1086307" y="1828800"/>
            <a:ext cx="30385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📄 Tarifários sem padronização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86307" y="2104949"/>
            <a:ext cx="48865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PDFs com layouts completamente diferentes, de 20 a 50 páginas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9846" y="2619756"/>
            <a:ext cx="190195" cy="19019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7200" y="3124505"/>
            <a:ext cx="476402" cy="476402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 txBox="1"/>
          <p:nvPr/>
        </p:nvSpPr>
        <p:spPr>
          <a:xfrm>
            <a:off x="1086307" y="2476195"/>
            <a:ext cx="47055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⏰ Processos manuais extremamente demorados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86307" y="2752344"/>
            <a:ext cx="46863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2-3 horas por catálogo, consumindo 60% do tempo da equipe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9846" y="3267151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86307" y="3124505"/>
            <a:ext cx="2971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❌ Alta taxa de erros humanos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086307" y="3771900"/>
            <a:ext cx="28483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 Limitação crítica de escala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086307" y="3400654"/>
            <a:ext cx="43918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Aproximadamente 8% de erro no processamento manual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9846" y="3914546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86307" y="4419295"/>
            <a:ext cx="29535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🌍 Múltiplos idiomas e layouts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1086307" y="4048049"/>
            <a:ext cx="56007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Impossível crescer o número de fornecedores mantendo processo manual</a:t>
            </a:r>
            <a:endParaRPr lang="en-US" sz="1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6072" y="4562856"/>
            <a:ext cx="237744" cy="1901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86307" y="4695444"/>
            <a:ext cx="45436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Catálogos em PT, EN, ES, FR com estruturas visuais distintas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F7F0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046159" y="6590995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14807"/>
            <a:ext cx="44485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🎯 Objetivos do Projeto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218895"/>
            <a:ext cx="5524805" cy="2143354"/>
          </a:xfrm>
          <a:prstGeom prst="roundRect">
            <a:avLst>
              <a:gd name="adj" fmla="val 1517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47395" y="1419149"/>
            <a:ext cx="305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7395" y="2104949"/>
            <a:ext cx="48390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Processar informações turísticas de documentos não estruturados usando Agentes Autônomos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" y="1762049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Extração automática com 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0605" y="1218895"/>
            <a:ext cx="5524805" cy="2143354"/>
          </a:xfrm>
          <a:prstGeom prst="roundRect">
            <a:avLst>
              <a:gd name="adj" fmla="val 1517"/>
            </a:avLst>
          </a:prstGeom>
          <a:solidFill>
            <a:srgbClr val="2CA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400800" y="1419149"/>
            <a:ext cx="305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104949"/>
            <a:ext cx="50008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Organizar dados extraídos em JSON e Excel para integração imediata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762049"/>
            <a:ext cx="41724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Estruturação em formatos padronizados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733495"/>
            <a:ext cx="5524805" cy="2143354"/>
          </a:xfrm>
          <a:prstGeom prst="roundRect">
            <a:avLst>
              <a:gd name="adj" fmla="val 1517"/>
            </a:avLst>
          </a:prstGeom>
          <a:solidFill>
            <a:srgbClr val="FF7F0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47395" y="3933749"/>
            <a:ext cx="305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" y="4619549"/>
            <a:ext cx="4724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Atingir precisão superior a 95% nos dados críticos (preço, cidade, duração)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" y="4276649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 acurácia na extração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0605" y="3733495"/>
            <a:ext cx="5524805" cy="2143354"/>
          </a:xfrm>
          <a:prstGeom prst="roundRect">
            <a:avLst>
              <a:gd name="adj" fmla="val 1517"/>
            </a:avLst>
          </a:prstGeom>
          <a:solidFill>
            <a:srgbClr val="9467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400800" y="3933749"/>
            <a:ext cx="305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619549"/>
            <a:ext cx="4476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Diminuir significativamente tempo de processamento e custo operacional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276649"/>
            <a:ext cx="3667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drástica de tempo e custo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F7F0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046159" y="6590995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4130345" y="2257654"/>
            <a:ext cx="200254" cy="22860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7890358" y="2257654"/>
            <a:ext cx="200254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523951"/>
            <a:ext cx="67107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✨ Nossa Solução com Agentes Autônomos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57200" y="1466698"/>
            <a:ext cx="3762756" cy="1828800"/>
          </a:xfrm>
          <a:prstGeom prst="roundRect">
            <a:avLst>
              <a:gd name="adj" fmla="val 2083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1650492" y="1638605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1️⃣ PROCESSA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99846" y="1990649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599846" y="2409444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599846" y="2829154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 txBox="1"/>
          <p:nvPr/>
        </p:nvSpPr>
        <p:spPr>
          <a:xfrm>
            <a:off x="2081174" y="2048256"/>
            <a:ext cx="6291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📄 PDF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014423" y="2467051"/>
            <a:ext cx="762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 Docling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957730" y="2885846"/>
            <a:ext cx="8769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📝 Chunks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216298" y="1466698"/>
            <a:ext cx="3762756" cy="1828800"/>
          </a:xfrm>
          <a:prstGeom prst="roundRect">
            <a:avLst>
              <a:gd name="adj" fmla="val 2083"/>
            </a:avLst>
          </a:prstGeom>
          <a:solidFill>
            <a:srgbClr val="2CA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 txBox="1"/>
          <p:nvPr/>
        </p:nvSpPr>
        <p:spPr>
          <a:xfrm>
            <a:off x="5469026" y="1638605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2️⃣ ENTENDE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358945" y="1990649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4358945" y="2409444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4358945" y="2829154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 txBox="1"/>
          <p:nvPr/>
        </p:nvSpPr>
        <p:spPr>
          <a:xfrm>
            <a:off x="5830214" y="2048256"/>
            <a:ext cx="648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🧠 RAG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845759" y="2467051"/>
            <a:ext cx="6199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 FAISS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657393" y="2885846"/>
            <a:ext cx="10003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🔍 Contexto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975397" y="1466698"/>
            <a:ext cx="3762756" cy="1828800"/>
          </a:xfrm>
          <a:prstGeom prst="roundRect">
            <a:avLst>
              <a:gd name="adj" fmla="val 2083"/>
            </a:avLst>
          </a:prstGeom>
          <a:solidFill>
            <a:srgbClr val="FF7F0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4"/>
          <p:cNvSpPr txBox="1"/>
          <p:nvPr/>
        </p:nvSpPr>
        <p:spPr>
          <a:xfrm>
            <a:off x="9113825" y="1638605"/>
            <a:ext cx="1629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3️⃣ ESTRUTURA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8118958" y="1990649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6"/>
          <p:cNvSpPr/>
          <p:nvPr/>
        </p:nvSpPr>
        <p:spPr>
          <a:xfrm>
            <a:off x="8118958" y="2409444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7"/>
          <p:cNvSpPr/>
          <p:nvPr/>
        </p:nvSpPr>
        <p:spPr>
          <a:xfrm>
            <a:off x="8118958" y="2829154"/>
            <a:ext cx="3476549" cy="323698"/>
          </a:xfrm>
          <a:prstGeom prst="roundRect">
            <a:avLst>
              <a:gd name="adj" fmla="val 33234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8"/>
          <p:cNvSpPr txBox="1"/>
          <p:nvPr/>
        </p:nvSpPr>
        <p:spPr>
          <a:xfrm>
            <a:off x="9561881" y="2048256"/>
            <a:ext cx="7050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 JSON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9537192" y="2467051"/>
            <a:ext cx="7525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↓ Pandas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9560052" y="2885846"/>
            <a:ext cx="715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 Excel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57200" y="3810305"/>
            <a:ext cx="333756" cy="381305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4068" y="3924605"/>
            <a:ext cx="152705" cy="152705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6210605" y="3810305"/>
            <a:ext cx="371246" cy="381305"/>
          </a:xfrm>
          <a:prstGeom prst="ellipse">
            <a:avLst/>
          </a:prstGeom>
          <a:solidFill>
            <a:srgbClr val="EBF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3"/>
          <p:cNvSpPr/>
          <p:nvPr/>
        </p:nvSpPr>
        <p:spPr>
          <a:xfrm>
            <a:off x="457200" y="5029200"/>
            <a:ext cx="342900" cy="381305"/>
          </a:xfrm>
          <a:prstGeom prst="ellipse">
            <a:avLst/>
          </a:prstGeom>
          <a:solidFill>
            <a:srgbClr val="FFF5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4"/>
          <p:cNvSpPr/>
          <p:nvPr/>
        </p:nvSpPr>
        <p:spPr>
          <a:xfrm>
            <a:off x="6210605" y="5029200"/>
            <a:ext cx="342900" cy="381305"/>
          </a:xfrm>
          <a:prstGeom prst="ellipse">
            <a:avLst/>
          </a:prstGeom>
          <a:solidFill>
            <a:srgbClr val="E8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5"/>
          <p:cNvSpPr txBox="1"/>
          <p:nvPr/>
        </p:nvSpPr>
        <p:spPr>
          <a:xfrm>
            <a:off x="936346" y="3829507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🤖 IA Generativa com RAG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936346" y="4095598"/>
            <a:ext cx="49633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Retrieval-Augmented Generation para compreensão semântica profunda do conteúdo</a:t>
            </a:r>
            <a:endParaRPr lang="en-US" sz="1200" dirty="0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6296558" y="3924605"/>
            <a:ext cx="190195" cy="152705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6726326" y="3829507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👥 Agente Autônomo Especializado</a:t>
            </a:r>
            <a:endParaRPr lang="en-US" sz="1500" dirty="0"/>
          </a:p>
        </p:txBody>
      </p:sp>
      <p:sp>
        <p:nvSpPr>
          <p:cNvPr id="44" name="Text 38"/>
          <p:cNvSpPr txBox="1"/>
          <p:nvPr/>
        </p:nvSpPr>
        <p:spPr>
          <a:xfrm>
            <a:off x="6726326" y="4095598"/>
            <a:ext cx="45820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CrewAI orquestrando tour_analyzer para extração precisa e coordenada</a:t>
            </a:r>
            <a:endParaRPr lang="en-US" sz="12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47726" y="5143500"/>
            <a:ext cx="152705" cy="152705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943661" y="504840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🔍 Busca Vetorial Inteligente</a:t>
            </a:r>
            <a:endParaRPr lang="en-US" sz="1500" dirty="0"/>
          </a:p>
        </p:txBody>
      </p:sp>
      <p:sp>
        <p:nvSpPr>
          <p:cNvPr id="47" name="Text 40"/>
          <p:cNvSpPr txBox="1"/>
          <p:nvPr/>
        </p:nvSpPr>
        <p:spPr>
          <a:xfrm>
            <a:off x="6701638" y="5048402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💻 Interface Web Funcional</a:t>
            </a:r>
            <a:endParaRPr lang="en-US" sz="1500" dirty="0"/>
          </a:p>
        </p:txBody>
      </p:sp>
      <p:sp>
        <p:nvSpPr>
          <p:cNvPr id="48" name="Text 41"/>
          <p:cNvSpPr txBox="1"/>
          <p:nvPr/>
        </p:nvSpPr>
        <p:spPr>
          <a:xfrm>
            <a:off x="943661" y="5315407"/>
            <a:ext cx="50109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FAISS (Facebook AI) para recuperação semântica ultrarrápida de contexto relevante</a:t>
            </a:r>
            <a:endParaRPr lang="en-US" sz="12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6293815" y="5143500"/>
            <a:ext cx="171907" cy="15270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6701638" y="5315407"/>
            <a:ext cx="42675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Streamlit para upload de PDFs e download instantâneo de resultados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10737799" y="6420002"/>
            <a:ext cx="1239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Feito com Genspark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407" y="1181405"/>
            <a:ext cx="38405" cy="4867351"/>
          </a:xfrm>
          <a:prstGeom prst="rect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2676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6880860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9046159" y="6995160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23951"/>
            <a:ext cx="483443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🏗️ Arquitetura RAG da Solução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181405"/>
            <a:ext cx="11277295" cy="1162202"/>
          </a:xfrm>
          <a:prstGeom prst="roundRect">
            <a:avLst>
              <a:gd name="adj" fmla="val 7739"/>
            </a:avLst>
          </a:prstGeom>
          <a:solidFill>
            <a:srgbClr val="1F77B4">
              <a:alpha val="10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57200" y="1181405"/>
            <a:ext cx="57607" cy="1162202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66598" y="1474013"/>
            <a:ext cx="571500" cy="571500"/>
          </a:xfrm>
          <a:prstGeom prst="ellipse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866851" y="1645920"/>
            <a:ext cx="171907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29207" y="1352398"/>
            <a:ext cx="3495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🔵 CAMADA 1: Parsing e Chunking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29207" y="1619402"/>
            <a:ext cx="4486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Extração e segmentação inteligente de conteúdo do 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29207" y="1904695"/>
            <a:ext cx="1876349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43507" y="1979676"/>
            <a:ext cx="133502" cy="1335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81451" y="1904695"/>
            <a:ext cx="1295705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4744822" y="1904695"/>
            <a:ext cx="1943100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1676095" y="1943100"/>
            <a:ext cx="1617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Docling (IBM Research)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3495751" y="1979676"/>
            <a:ext cx="105156" cy="13350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599993" y="1943100"/>
            <a:ext cx="10652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OCR avançado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4859122" y="1979676"/>
            <a:ext cx="171907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030114" y="194310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Markdown estruturado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2491740"/>
            <a:ext cx="11277295" cy="1162202"/>
          </a:xfrm>
          <a:prstGeom prst="roundRect">
            <a:avLst>
              <a:gd name="adj" fmla="val 7739"/>
            </a:avLst>
          </a:prstGeom>
          <a:solidFill>
            <a:srgbClr val="2CA02C">
              <a:alpha val="10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457200" y="2491740"/>
            <a:ext cx="57607" cy="1162202"/>
          </a:xfrm>
          <a:prstGeom prst="rect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666598" y="2785262"/>
            <a:ext cx="571500" cy="571500"/>
          </a:xfrm>
          <a:prstGeom prst="ellipse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52221" y="2956255"/>
            <a:ext cx="200254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29207" y="2662733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🟢 CAMADA 2: Busca Vetorial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429207" y="2929738"/>
            <a:ext cx="4515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Vetorização semântica e indexação para busca contextual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1429207" y="3215945"/>
            <a:ext cx="1923898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1543507" y="3290011"/>
            <a:ext cx="152705" cy="13350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3428086" y="3215945"/>
            <a:ext cx="1647749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5144414" y="3215945"/>
            <a:ext cx="1438351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25"/>
          <p:cNvSpPr txBox="1"/>
          <p:nvPr/>
        </p:nvSpPr>
        <p:spPr>
          <a:xfrm>
            <a:off x="1695298" y="3253435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Sentence Transformers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42386" y="3290011"/>
            <a:ext cx="133502" cy="1335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675888" y="3253435"/>
            <a:ext cx="13889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FAISS (Facebook AI)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5258714" y="3290011"/>
            <a:ext cx="123444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382158" y="3253435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all-MiniLM-L6-v2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457200" y="3802075"/>
            <a:ext cx="11277295" cy="1162202"/>
          </a:xfrm>
          <a:prstGeom prst="roundRect">
            <a:avLst>
              <a:gd name="adj" fmla="val 7739"/>
            </a:avLst>
          </a:prstGeom>
          <a:solidFill>
            <a:srgbClr val="FF7F0E">
              <a:alpha val="10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29"/>
          <p:cNvSpPr/>
          <p:nvPr/>
        </p:nvSpPr>
        <p:spPr>
          <a:xfrm>
            <a:off x="457200" y="3802075"/>
            <a:ext cx="57607" cy="1162202"/>
          </a:xfrm>
          <a:prstGeom prst="rect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0"/>
          <p:cNvSpPr/>
          <p:nvPr/>
        </p:nvSpPr>
        <p:spPr>
          <a:xfrm>
            <a:off x="666598" y="4095598"/>
            <a:ext cx="571500" cy="571500"/>
          </a:xfrm>
          <a:prstGeom prst="ellipse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rcRect l="-80" r="-80"/>
          <a:stretch/>
        </p:blipFill>
        <p:spPr>
          <a:xfrm>
            <a:off x="809244" y="4267505"/>
            <a:ext cx="286207" cy="2286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429207" y="3973982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🟡 CAMADA 3: Agente Autônomo</a:t>
            </a:r>
            <a:endParaRPr lang="en-US" sz="1500" dirty="0"/>
          </a:p>
        </p:txBody>
      </p:sp>
      <p:sp>
        <p:nvSpPr>
          <p:cNvPr id="43" name="Text 32"/>
          <p:cNvSpPr txBox="1"/>
          <p:nvPr/>
        </p:nvSpPr>
        <p:spPr>
          <a:xfrm>
            <a:off x="1429207" y="4240073"/>
            <a:ext cx="4325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Orquestração e processamento inteligente do contexto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1429207" y="4526280"/>
            <a:ext cx="875995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 l="-1507" r="-1507"/>
          <a:stretch/>
        </p:blipFill>
        <p:spPr>
          <a:xfrm>
            <a:off x="1543507" y="4600346"/>
            <a:ext cx="171907" cy="133502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2374697" y="4526280"/>
            <a:ext cx="1171346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Text 35"/>
          <p:cNvSpPr txBox="1"/>
          <p:nvPr/>
        </p:nvSpPr>
        <p:spPr>
          <a:xfrm>
            <a:off x="1714500" y="4564685"/>
            <a:ext cx="5797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CrewAI</a:t>
            </a:r>
            <a:endParaRPr lang="en-US" sz="10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488997" y="4600346"/>
            <a:ext cx="133502" cy="133502"/>
          </a:xfrm>
          <a:prstGeom prst="rect">
            <a:avLst/>
          </a:prstGeom>
        </p:spPr>
      </p:pic>
      <p:sp>
        <p:nvSpPr>
          <p:cNvPr id="49" name="Shape 36"/>
          <p:cNvSpPr/>
          <p:nvPr/>
        </p:nvSpPr>
        <p:spPr>
          <a:xfrm>
            <a:off x="3618281" y="4526280"/>
            <a:ext cx="1257300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Text 37"/>
          <p:cNvSpPr txBox="1"/>
          <p:nvPr/>
        </p:nvSpPr>
        <p:spPr>
          <a:xfrm>
            <a:off x="2621585" y="4564685"/>
            <a:ext cx="91257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GPT-4o-mini</a:t>
            </a:r>
            <a:endParaRPr lang="en-US" sz="10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-2838" r="-2838"/>
          <a:stretch/>
        </p:blipFill>
        <p:spPr>
          <a:xfrm>
            <a:off x="3732581" y="4600346"/>
            <a:ext cx="123444" cy="133502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3856025" y="4564685"/>
            <a:ext cx="10085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tour_analyzer</a:t>
            </a:r>
            <a:endParaRPr lang="en-US" sz="1000" dirty="0"/>
          </a:p>
        </p:txBody>
      </p:sp>
      <p:sp>
        <p:nvSpPr>
          <p:cNvPr id="53" name="Shape 39"/>
          <p:cNvSpPr/>
          <p:nvPr/>
        </p:nvSpPr>
        <p:spPr>
          <a:xfrm>
            <a:off x="457200" y="5112410"/>
            <a:ext cx="11277295" cy="1162202"/>
          </a:xfrm>
          <a:prstGeom prst="roundRect">
            <a:avLst>
              <a:gd name="adj" fmla="val 7739"/>
            </a:avLst>
          </a:prstGeom>
          <a:solidFill>
            <a:srgbClr val="D62728">
              <a:alpha val="10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4" name="Shape 40"/>
          <p:cNvSpPr/>
          <p:nvPr/>
        </p:nvSpPr>
        <p:spPr>
          <a:xfrm>
            <a:off x="457200" y="5112410"/>
            <a:ext cx="57607" cy="1162202"/>
          </a:xfrm>
          <a:prstGeom prst="rect">
            <a:avLst/>
          </a:prstGeom>
          <a:solidFill>
            <a:srgbClr val="D627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41"/>
          <p:cNvSpPr/>
          <p:nvPr/>
        </p:nvSpPr>
        <p:spPr>
          <a:xfrm>
            <a:off x="666598" y="5405933"/>
            <a:ext cx="571500" cy="571500"/>
          </a:xfrm>
          <a:prstGeom prst="ellipse">
            <a:avLst/>
          </a:prstGeom>
          <a:solidFill>
            <a:srgbClr val="D62728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5"/>
          <a:srcRect t="-44" b="-44"/>
          <a:stretch/>
        </p:blipFill>
        <p:spPr>
          <a:xfrm>
            <a:off x="823874" y="5577840"/>
            <a:ext cx="256946" cy="22860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429207" y="5284318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🔴 CAMADA 4: Exportação</a:t>
            </a:r>
            <a:endParaRPr lang="en-US" sz="1500" dirty="0"/>
          </a:p>
        </p:txBody>
      </p:sp>
      <p:sp>
        <p:nvSpPr>
          <p:cNvPr id="58" name="Text 43"/>
          <p:cNvSpPr txBox="1"/>
          <p:nvPr/>
        </p:nvSpPr>
        <p:spPr>
          <a:xfrm>
            <a:off x="1429207" y="5551322"/>
            <a:ext cx="4048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Estruturação e disponibilização dos dados extraídos</a:t>
            </a:r>
            <a:endParaRPr lang="en-US" sz="1200" dirty="0"/>
          </a:p>
        </p:txBody>
      </p:sp>
      <p:sp>
        <p:nvSpPr>
          <p:cNvPr id="59" name="Shape 44"/>
          <p:cNvSpPr/>
          <p:nvPr/>
        </p:nvSpPr>
        <p:spPr>
          <a:xfrm>
            <a:off x="1429207" y="5836615"/>
            <a:ext cx="828446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6"/>
          <a:srcRect l="-2838" r="-2838"/>
          <a:stretch/>
        </p:blipFill>
        <p:spPr>
          <a:xfrm>
            <a:off x="1543507" y="5910682"/>
            <a:ext cx="123444" cy="133502"/>
          </a:xfrm>
          <a:prstGeom prst="rect">
            <a:avLst/>
          </a:prstGeom>
        </p:spPr>
      </p:pic>
      <p:sp>
        <p:nvSpPr>
          <p:cNvPr id="61" name="Shape 45"/>
          <p:cNvSpPr/>
          <p:nvPr/>
        </p:nvSpPr>
        <p:spPr>
          <a:xfrm>
            <a:off x="2327148" y="5836615"/>
            <a:ext cx="847649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46"/>
          <p:cNvSpPr/>
          <p:nvPr/>
        </p:nvSpPr>
        <p:spPr>
          <a:xfrm>
            <a:off x="4007815" y="5836615"/>
            <a:ext cx="676656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3" name="Text 47"/>
          <p:cNvSpPr txBox="1"/>
          <p:nvPr/>
        </p:nvSpPr>
        <p:spPr>
          <a:xfrm>
            <a:off x="1666951" y="5875020"/>
            <a:ext cx="5797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000" dirty="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2441448" y="5910682"/>
            <a:ext cx="133502" cy="133502"/>
          </a:xfrm>
          <a:prstGeom prst="rect">
            <a:avLst/>
          </a:prstGeom>
        </p:spPr>
      </p:pic>
      <p:sp>
        <p:nvSpPr>
          <p:cNvPr id="65" name="Shape 48"/>
          <p:cNvSpPr/>
          <p:nvPr/>
        </p:nvSpPr>
        <p:spPr>
          <a:xfrm>
            <a:off x="3247949" y="5836615"/>
            <a:ext cx="685800" cy="286207"/>
          </a:xfrm>
          <a:prstGeom prst="roundRect">
            <a:avLst>
              <a:gd name="adj" fmla="val 21299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6" name="Text 49"/>
          <p:cNvSpPr txBox="1"/>
          <p:nvPr/>
        </p:nvSpPr>
        <p:spPr>
          <a:xfrm>
            <a:off x="2574950" y="5875020"/>
            <a:ext cx="5888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Pandas</a:t>
            </a:r>
            <a:endParaRPr lang="en-US" sz="1000" dirty="0"/>
          </a:p>
        </p:txBody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8"/>
          <a:srcRect l="-2838" r="-2838"/>
          <a:stretch/>
        </p:blipFill>
        <p:spPr>
          <a:xfrm>
            <a:off x="3362249" y="5910682"/>
            <a:ext cx="123444" cy="133502"/>
          </a:xfrm>
          <a:prstGeom prst="rect">
            <a:avLst/>
          </a:prstGeom>
        </p:spPr>
      </p:pic>
      <p:sp>
        <p:nvSpPr>
          <p:cNvPr id="68" name="Text 50"/>
          <p:cNvSpPr txBox="1"/>
          <p:nvPr/>
        </p:nvSpPr>
        <p:spPr>
          <a:xfrm>
            <a:off x="3485693" y="5875020"/>
            <a:ext cx="4370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JSON</a:t>
            </a:r>
            <a:endParaRPr lang="en-US" sz="1000" dirty="0"/>
          </a:p>
        </p:txBody>
      </p:sp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9"/>
          <a:srcRect l="-2512" r="-2512"/>
          <a:stretch/>
        </p:blipFill>
        <p:spPr>
          <a:xfrm>
            <a:off x="4122115" y="5910682"/>
            <a:ext cx="105156" cy="133502"/>
          </a:xfrm>
          <a:prstGeom prst="rect">
            <a:avLst/>
          </a:prstGeom>
        </p:spPr>
      </p:pic>
      <p:sp>
        <p:nvSpPr>
          <p:cNvPr id="70" name="Text 51"/>
          <p:cNvSpPr txBox="1"/>
          <p:nvPr/>
        </p:nvSpPr>
        <p:spPr>
          <a:xfrm>
            <a:off x="4227271" y="5875020"/>
            <a:ext cx="4462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Excel</a:t>
            </a:r>
            <a:endParaRPr lang="en-US" sz="1000" dirty="0"/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547604" y="6439205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FF7F0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046159" y="6590995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448056"/>
            <a:ext cx="49203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🛠️ Stack Tecnológico Completo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1305" y="1104595"/>
            <a:ext cx="3657600" cy="169529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580644" y="1304849"/>
            <a:ext cx="457200" cy="457200"/>
          </a:xfrm>
          <a:prstGeom prst="ellipse">
            <a:avLst/>
          </a:prstGeom>
          <a:solidFill>
            <a:srgbClr val="E6F3F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7921" y="1438351"/>
            <a:ext cx="142646" cy="1901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67505" y="1104595"/>
            <a:ext cx="3657600" cy="169529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8153705" y="1104595"/>
            <a:ext cx="3657600" cy="1695298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81305" y="3029407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267505" y="3029407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153705" y="3029407"/>
            <a:ext cx="3657600" cy="1505102"/>
          </a:xfrm>
          <a:prstGeom prst="roundRect">
            <a:avLst>
              <a:gd name="adj" fmla="val 30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 txBox="1"/>
          <p:nvPr/>
        </p:nvSpPr>
        <p:spPr>
          <a:xfrm>
            <a:off x="1152144" y="1495044"/>
            <a:ext cx="184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1️⃣ OCR e Parsing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007254" y="1362456"/>
            <a:ext cx="18672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2️⃣ Embeddings e Vetorização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038344" y="3419856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5️⃣ Modelo de Linguagem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924544" y="3419856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6️⃣ Interface e Exportação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" y="2038198"/>
            <a:ext cx="317662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Docling (IBM Research) para extração de texto de PDFs, incluindo OCR em documentos escaneados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466844" y="3962095"/>
            <a:ext cx="327263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GPT-4o-mini (OpenAI) para extração inteligente com ótimo custo-benefício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353044" y="3962095"/>
            <a:ext cx="309158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Streamlit para dashboard web + Pandas para estruturação de dados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466844" y="1304849"/>
            <a:ext cx="428854" cy="457200"/>
          </a:xfrm>
          <a:prstGeom prst="ellipse">
            <a:avLst/>
          </a:prstGeom>
          <a:solidFill>
            <a:srgbClr val="E9F7E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4594860" y="1438351"/>
            <a:ext cx="171907" cy="19019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466844" y="2038198"/>
            <a:ext cx="320588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Sentence Transformers (all-MiniLM-L6-v2) para conversão de texto em vetores semânticos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8353044" y="1304849"/>
            <a:ext cx="457200" cy="457200"/>
          </a:xfrm>
          <a:prstGeom prst="ellipse">
            <a:avLst/>
          </a:prstGeom>
          <a:solidFill>
            <a:srgbClr val="FFF5E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86546" y="1438351"/>
            <a:ext cx="190195" cy="19019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24544" y="1495044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3️⃣ Busca Vetorial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137514" y="3286354"/>
            <a:ext cx="20766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4️⃣ Orquestração de Agentes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353044" y="2038198"/>
            <a:ext cx="29004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FAISS (Facebook AI Similarity Search) para recuperação contextual ultrarrápida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580644" y="3962095"/>
            <a:ext cx="282458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CrewAI coordenando agente autônomo tour_analyzer com ferramentas de busca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80644" y="3228746"/>
            <a:ext cx="448056" cy="457200"/>
          </a:xfrm>
          <a:prstGeom prst="ellipse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3057" y="3362249"/>
            <a:ext cx="237744" cy="190195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466844" y="3228746"/>
            <a:ext cx="457200" cy="457200"/>
          </a:xfrm>
          <a:prstGeom prst="ellipse">
            <a:avLst/>
          </a:prstGeom>
          <a:solidFill>
            <a:srgbClr val="EBF7F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00346" y="3362249"/>
            <a:ext cx="190195" cy="190195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8353044" y="3228746"/>
            <a:ext cx="457200" cy="457200"/>
          </a:xfrm>
          <a:prstGeom prst="ellipse">
            <a:avLst/>
          </a:prstGeom>
          <a:solidFill>
            <a:srgbClr val="F9F0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86546" y="3362249"/>
            <a:ext cx="190195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046159" y="6590995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33095" y="371246"/>
            <a:ext cx="39008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 Resultados e Impacto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04495" y="952805"/>
            <a:ext cx="11582705" cy="1943100"/>
          </a:xfrm>
          <a:prstGeom prst="roundRect">
            <a:avLst>
              <a:gd name="adj" fmla="val 1845"/>
            </a:avLst>
          </a:prstGeom>
          <a:solidFill>
            <a:srgbClr val="F9FAFB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04495" y="952805"/>
            <a:ext cx="3866998" cy="457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026603" y="952805"/>
            <a:ext cx="3866998" cy="457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166006" y="1410005"/>
            <a:ext cx="3866998" cy="4956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04495" y="1904695"/>
            <a:ext cx="3866998" cy="4956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8026603" y="1904695"/>
            <a:ext cx="3866998" cy="4956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66006" y="2400300"/>
            <a:ext cx="3866998" cy="49560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841602" y="1086307"/>
            <a:ext cx="905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MÉTRICA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22231" y="1086307"/>
            <a:ext cx="790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6006" y="952805"/>
            <a:ext cx="3866998" cy="4572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5808269" y="1086307"/>
            <a:ext cx="695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4495" y="1410005"/>
            <a:ext cx="3866998" cy="4956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026603" y="1410005"/>
            <a:ext cx="3866998" cy="4956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166006" y="1904695"/>
            <a:ext cx="3866998" cy="4956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026603" y="2400300"/>
            <a:ext cx="3866998" cy="4956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1226210" y="1543507"/>
            <a:ext cx="2134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 de Processamento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820156" y="1543507"/>
            <a:ext cx="667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horas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424721" y="1580998"/>
            <a:ext cx="972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minutos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0317175" y="1524305"/>
            <a:ext cx="171907" cy="2286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04495" y="2400300"/>
            <a:ext cx="3866998" cy="4956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 txBox="1"/>
          <p:nvPr/>
        </p:nvSpPr>
        <p:spPr>
          <a:xfrm>
            <a:off x="1721815" y="2533802"/>
            <a:ext cx="1143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Taxa de Erros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982919" y="2533802"/>
            <a:ext cx="3429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8%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712757" y="2572207"/>
            <a:ext cx="400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&lt;1%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495958" y="2038198"/>
            <a:ext cx="1600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por Catálogo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757977" y="2038198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R$ 60,00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564624" y="2076602"/>
            <a:ext cx="695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R$ 0,03</a:t>
            </a:r>
            <a:endParaRPr lang="en-US" sz="12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0177272" y="2018995"/>
            <a:ext cx="171907" cy="228600"/>
          </a:xfrm>
          <a:prstGeom prst="rect">
            <a:avLst/>
          </a:prstGeom>
        </p:spPr>
      </p:pic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rcRect l="-133" r="-133"/>
          <a:stretch/>
        </p:blipFill>
        <p:spPr>
          <a:xfrm>
            <a:off x="10029139" y="2514600"/>
            <a:ext cx="171907" cy="22860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304495" y="3200400"/>
            <a:ext cx="3762756" cy="1181405"/>
          </a:xfrm>
          <a:prstGeom prst="roundRect">
            <a:avLst>
              <a:gd name="adj" fmla="val 4994"/>
            </a:avLst>
          </a:prstGeom>
          <a:solidFill>
            <a:srgbClr val="1F77B4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1"/>
          <p:cNvSpPr txBox="1"/>
          <p:nvPr/>
        </p:nvSpPr>
        <p:spPr>
          <a:xfrm>
            <a:off x="457200" y="3362249"/>
            <a:ext cx="1405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TOURS EXTRAÍDOS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457200" y="3534156"/>
            <a:ext cx="101955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294</a:t>
            </a:r>
            <a:endParaRPr lang="en-US" sz="3000" dirty="0"/>
          </a:p>
        </p:txBody>
      </p:sp>
      <p:sp>
        <p:nvSpPr>
          <p:cNvPr id="38" name="Text 33"/>
          <p:cNvSpPr txBox="1"/>
          <p:nvPr/>
        </p:nvSpPr>
        <p:spPr>
          <a:xfrm>
            <a:off x="457200" y="4019702"/>
            <a:ext cx="2743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 do total esperado no catálogo</a:t>
            </a:r>
            <a:endParaRPr lang="en-US" sz="12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/>
          <a:stretch/>
        </p:blipFill>
        <p:spPr>
          <a:xfrm>
            <a:off x="3568903" y="3366821"/>
            <a:ext cx="342900" cy="34290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4216298" y="3200400"/>
            <a:ext cx="3762756" cy="1181405"/>
          </a:xfrm>
          <a:prstGeom prst="roundRect">
            <a:avLst>
              <a:gd name="adj" fmla="val 4994"/>
            </a:avLst>
          </a:prstGeom>
          <a:solidFill>
            <a:srgbClr val="FF7F0E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Text 35"/>
          <p:cNvSpPr txBox="1"/>
          <p:nvPr/>
        </p:nvSpPr>
        <p:spPr>
          <a:xfrm>
            <a:off x="4369003" y="3362249"/>
            <a:ext cx="15864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DE TEMPO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4369003" y="3534156"/>
            <a:ext cx="10954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3000" dirty="0"/>
          </a:p>
        </p:txBody>
      </p:sp>
      <p:sp>
        <p:nvSpPr>
          <p:cNvPr id="43" name="Text 37"/>
          <p:cNvSpPr txBox="1"/>
          <p:nvPr/>
        </p:nvSpPr>
        <p:spPr>
          <a:xfrm>
            <a:off x="4369003" y="4019702"/>
            <a:ext cx="2762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3 horas para apenas 10 minutos</a:t>
            </a:r>
            <a:endParaRPr lang="en-US" sz="12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rcRect/>
          <a:stretch/>
        </p:blipFill>
        <p:spPr>
          <a:xfrm>
            <a:off x="7480706" y="3366821"/>
            <a:ext cx="342900" cy="342900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8128102" y="3200400"/>
            <a:ext cx="3762756" cy="1181405"/>
          </a:xfrm>
          <a:prstGeom prst="roundRect">
            <a:avLst>
              <a:gd name="adj" fmla="val 4994"/>
            </a:avLst>
          </a:prstGeom>
          <a:solidFill>
            <a:srgbClr val="2CA02C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Text 39"/>
          <p:cNvSpPr txBox="1"/>
          <p:nvPr/>
        </p:nvSpPr>
        <p:spPr>
          <a:xfrm>
            <a:off x="8280806" y="3362249"/>
            <a:ext cx="8814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ECONOMIA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8280806" y="3534156"/>
            <a:ext cx="144841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99,9%</a:t>
            </a:r>
            <a:endParaRPr lang="en-US" sz="3000" dirty="0"/>
          </a:p>
        </p:txBody>
      </p:sp>
      <p:sp>
        <p:nvSpPr>
          <p:cNvPr id="48" name="Text 41"/>
          <p:cNvSpPr txBox="1"/>
          <p:nvPr/>
        </p:nvSpPr>
        <p:spPr>
          <a:xfrm>
            <a:off x="8280806" y="4019702"/>
            <a:ext cx="24195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Redução de custo operacional</a:t>
            </a:r>
            <a:endParaRPr lang="en-US" sz="12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rcRect l="-1200" r="-1200"/>
          <a:stretch/>
        </p:blipFill>
        <p:spPr>
          <a:xfrm>
            <a:off x="11515954" y="3366821"/>
            <a:ext cx="219456" cy="342900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304495" y="4533595"/>
            <a:ext cx="3762756" cy="1181405"/>
          </a:xfrm>
          <a:prstGeom prst="roundRect">
            <a:avLst>
              <a:gd name="adj" fmla="val 4994"/>
            </a:avLst>
          </a:prstGeom>
          <a:solidFill>
            <a:srgbClr val="2CA02C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Text 43"/>
          <p:cNvSpPr txBox="1"/>
          <p:nvPr/>
        </p:nvSpPr>
        <p:spPr>
          <a:xfrm>
            <a:off x="457200" y="4695444"/>
            <a:ext cx="833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ACURÁCIA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457200" y="4867351"/>
            <a:ext cx="13149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&gt;95%</a:t>
            </a:r>
            <a:endParaRPr lang="en-US" sz="3000" dirty="0"/>
          </a:p>
        </p:txBody>
      </p:sp>
      <p:sp>
        <p:nvSpPr>
          <p:cNvPr id="53" name="Text 45"/>
          <p:cNvSpPr txBox="1"/>
          <p:nvPr/>
        </p:nvSpPr>
        <p:spPr>
          <a:xfrm>
            <a:off x="457200" y="5352898"/>
            <a:ext cx="2286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Precisão em campos críticos</a:t>
            </a:r>
            <a:endParaRPr lang="en-US" sz="1200" dirty="0"/>
          </a:p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/>
          <a:stretch/>
        </p:blipFill>
        <p:spPr>
          <a:xfrm>
            <a:off x="3568903" y="4700930"/>
            <a:ext cx="342900" cy="342900"/>
          </a:xfrm>
          <a:prstGeom prst="rect">
            <a:avLst/>
          </a:prstGeom>
        </p:spPr>
      </p:pic>
      <p:sp>
        <p:nvSpPr>
          <p:cNvPr id="55" name="Shape 46"/>
          <p:cNvSpPr/>
          <p:nvPr/>
        </p:nvSpPr>
        <p:spPr>
          <a:xfrm>
            <a:off x="4216298" y="4533595"/>
            <a:ext cx="3762756" cy="1181405"/>
          </a:xfrm>
          <a:prstGeom prst="roundRect">
            <a:avLst>
              <a:gd name="adj" fmla="val 4994"/>
            </a:avLst>
          </a:prstGeom>
          <a:solidFill>
            <a:srgbClr val="1F77B4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Text 47"/>
          <p:cNvSpPr txBox="1"/>
          <p:nvPr/>
        </p:nvSpPr>
        <p:spPr>
          <a:xfrm>
            <a:off x="4369003" y="4695444"/>
            <a:ext cx="10533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MULTILÍNGUE</a:t>
            </a:r>
            <a:endParaRPr lang="en-US" sz="1000" dirty="0"/>
          </a:p>
        </p:txBody>
      </p:sp>
      <p:sp>
        <p:nvSpPr>
          <p:cNvPr id="57" name="Text 48"/>
          <p:cNvSpPr txBox="1"/>
          <p:nvPr/>
        </p:nvSpPr>
        <p:spPr>
          <a:xfrm>
            <a:off x="4369003" y="4867351"/>
            <a:ext cx="55321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58" name="Text 49"/>
          <p:cNvSpPr txBox="1"/>
          <p:nvPr/>
        </p:nvSpPr>
        <p:spPr>
          <a:xfrm>
            <a:off x="4369003" y="5352898"/>
            <a:ext cx="1838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Idiomas: PT, EN, ES, FR</a:t>
            </a:r>
            <a:endParaRPr lang="en-US" sz="1200" dirty="0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8">
            <a:alphaModFix amt="70000"/>
          </a:blip>
          <a:srcRect l="-27" r="-27"/>
          <a:stretch/>
        </p:blipFill>
        <p:spPr>
          <a:xfrm>
            <a:off x="7394753" y="4700930"/>
            <a:ext cx="428854" cy="342900"/>
          </a:xfrm>
          <a:prstGeom prst="rect">
            <a:avLst/>
          </a:prstGeom>
        </p:spPr>
      </p:pic>
      <p:sp>
        <p:nvSpPr>
          <p:cNvPr id="60" name="Shape 50"/>
          <p:cNvSpPr/>
          <p:nvPr/>
        </p:nvSpPr>
        <p:spPr>
          <a:xfrm>
            <a:off x="8128102" y="4533595"/>
            <a:ext cx="3762756" cy="1181405"/>
          </a:xfrm>
          <a:prstGeom prst="roundRect">
            <a:avLst>
              <a:gd name="adj" fmla="val 4994"/>
            </a:avLst>
          </a:prstGeom>
          <a:solidFill>
            <a:srgbClr val="FF7F0E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Text 51"/>
          <p:cNvSpPr txBox="1"/>
          <p:nvPr/>
        </p:nvSpPr>
        <p:spPr>
          <a:xfrm>
            <a:off x="8280806" y="4695444"/>
            <a:ext cx="15105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MODULAR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8280806" y="4867351"/>
            <a:ext cx="11530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</a:t>
            </a:r>
            <a:endParaRPr lang="en-US" sz="3000" dirty="0"/>
          </a:p>
        </p:txBody>
      </p:sp>
      <p:sp>
        <p:nvSpPr>
          <p:cNvPr id="63" name="Text 53"/>
          <p:cNvSpPr txBox="1"/>
          <p:nvPr/>
        </p:nvSpPr>
        <p:spPr>
          <a:xfrm>
            <a:off x="8280806" y="5352898"/>
            <a:ext cx="2686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Arquitetura extensível e replicável</a:t>
            </a:r>
            <a:endParaRPr lang="en-US" sz="1200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 l="-607" r="-607"/>
          <a:stretch/>
        </p:blipFill>
        <p:spPr>
          <a:xfrm>
            <a:off x="11344046" y="4700930"/>
            <a:ext cx="390449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9443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5086807"/>
            <a:ext cx="3810305" cy="3810305"/>
          </a:xfrm>
          <a:prstGeom prst="ellipse">
            <a:avLst/>
          </a:prstGeom>
          <a:solidFill>
            <a:srgbClr val="FF7F0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7563002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046159" y="7677302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23951"/>
            <a:ext cx="393923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🎥 Sistema em Produção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181405"/>
            <a:ext cx="5524805" cy="2771546"/>
          </a:xfrm>
          <a:prstGeom prst="roundRect">
            <a:avLst>
              <a:gd name="adj" fmla="val 907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6344" y="1190549"/>
            <a:ext cx="5505602" cy="390449"/>
          </a:xfrm>
          <a:prstGeom prst="rect">
            <a:avLst/>
          </a:prstGeom>
          <a:solidFill>
            <a:srgbClr val="1F77B4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66344" y="1571854"/>
            <a:ext cx="5505602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619049" y="1304849"/>
            <a:ext cx="171907" cy="15270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10605" y="1181405"/>
            <a:ext cx="5524805" cy="2771546"/>
          </a:xfrm>
          <a:prstGeom prst="roundRect">
            <a:avLst>
              <a:gd name="adj" fmla="val 907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6219749" y="1190549"/>
            <a:ext cx="5505602" cy="390449"/>
          </a:xfrm>
          <a:prstGeom prst="rect">
            <a:avLst/>
          </a:prstGeom>
          <a:solidFill>
            <a:srgbClr val="FF7F0E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219749" y="1571854"/>
            <a:ext cx="5505602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866851" y="1285646"/>
            <a:ext cx="1924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STREAMLIT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6344" y="1580998"/>
            <a:ext cx="5505602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76956" y="1800454"/>
            <a:ext cx="286207" cy="286207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7200" y="4181551"/>
            <a:ext cx="5524805" cy="2771546"/>
          </a:xfrm>
          <a:prstGeom prst="roundRect">
            <a:avLst>
              <a:gd name="adj" fmla="val 907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6210605" y="4181551"/>
            <a:ext cx="5524805" cy="2771546"/>
          </a:xfrm>
          <a:prstGeom prst="roundRect">
            <a:avLst>
              <a:gd name="adj" fmla="val 907"/>
            </a:avLst>
          </a:prstGeom>
          <a:noFill/>
          <a:ln w="12700">
            <a:solidFill>
              <a:srgbClr val="E2E8F0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466344" y="4190695"/>
            <a:ext cx="5505602" cy="390449"/>
          </a:xfrm>
          <a:prstGeom prst="rect">
            <a:avLst/>
          </a:prstGeom>
          <a:solidFill>
            <a:srgbClr val="2CA02C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466344" y="4572000"/>
            <a:ext cx="5505602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 txBox="1"/>
          <p:nvPr/>
        </p:nvSpPr>
        <p:spPr>
          <a:xfrm>
            <a:off x="6638544" y="1285646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ESTRUTURADO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47649" y="4286707"/>
            <a:ext cx="2315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EXCEL/SHEETS EXPORTADO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66344" y="4581144"/>
            <a:ext cx="5505602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2"/>
          <p:cNvSpPr txBox="1"/>
          <p:nvPr/>
        </p:nvSpPr>
        <p:spPr>
          <a:xfrm>
            <a:off x="1380744" y="2180844"/>
            <a:ext cx="38011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de upload com área para arrastar PDFs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2464308" y="5152644"/>
            <a:ext cx="1629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294 tours tabulados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2531059" y="2438705"/>
            <a:ext cx="14813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Upload drag &amp; drop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2435962" y="2628900"/>
            <a:ext cx="16724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Status processamento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2550262" y="2819095"/>
            <a:ext cx="14438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294 tours extraídos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2598725" y="3010205"/>
            <a:ext cx="13478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Botões download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2514600" y="6038698"/>
            <a:ext cx="15105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Pronto para importar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19049" y="3495751"/>
            <a:ext cx="52440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web para upload de PDFs e download instantâneo dos resultados processados</a:t>
            </a:r>
            <a:endParaRPr lang="en-US" sz="10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6372454" y="1304849"/>
            <a:ext cx="190195" cy="15270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372454" y="3495751"/>
            <a:ext cx="45866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Formato estruturado com mais de 20 campos por tour, pronto para integração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619049" y="6495898"/>
            <a:ext cx="516818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Exportação em formato Excel com todos os tours organizados para análise e integração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219749" y="1580998"/>
            <a:ext cx="5505602" cy="1828800"/>
          </a:xfrm>
          <a:prstGeom prst="roundRect">
            <a:avLst>
              <a:gd name="adj" fmla="val 1042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3"/>
          <p:cNvSpPr txBox="1"/>
          <p:nvPr/>
        </p:nvSpPr>
        <p:spPr>
          <a:xfrm>
            <a:off x="6372454" y="1752905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6372454" y="1923898"/>
            <a:ext cx="1334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"tour_id": "T123",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6372454" y="2095805"/>
            <a:ext cx="20199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"title": "Passeio de Barco",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6372454" y="2266798"/>
            <a:ext cx="21534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"city": "Fernando de Noronha",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6372454" y="2438705"/>
            <a:ext cx="11914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"price": 340.00,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6372454" y="2609698"/>
            <a:ext cx="1334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"currency": "BRL",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6372454" y="2781605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"duration": "4h",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372454" y="2952598"/>
            <a:ext cx="16002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"category": "Náutico",</a:t>
            </a:r>
            <a:endParaRPr lang="en-US" sz="900" dirty="0"/>
          </a:p>
        </p:txBody>
      </p:sp>
      <p:sp>
        <p:nvSpPr>
          <p:cNvPr id="46" name="Text 41"/>
          <p:cNvSpPr txBox="1"/>
          <p:nvPr/>
        </p:nvSpPr>
        <p:spPr>
          <a:xfrm>
            <a:off x="6372454" y="3124505"/>
            <a:ext cx="26389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"description": "Tour pelas ilhas...",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6372454" y="3295498"/>
            <a:ext cx="242956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"included": "Equipamento, guia..."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6372454" y="3467405"/>
            <a:ext cx="16002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+20 campos por tour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6372454" y="3638398"/>
            <a:ext cx="1627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9049" y="4304995"/>
            <a:ext cx="152705" cy="152705"/>
          </a:xfrm>
          <a:prstGeom prst="rect">
            <a:avLst/>
          </a:prstGeom>
        </p:spPr>
      </p:pic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rcRect l="-1118" r="-1118"/>
          <a:stretch/>
        </p:blipFill>
        <p:spPr>
          <a:xfrm>
            <a:off x="3109874" y="4772254"/>
            <a:ext cx="219456" cy="286207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6219749" y="4190695"/>
            <a:ext cx="5505602" cy="390449"/>
          </a:xfrm>
          <a:prstGeom prst="rect">
            <a:avLst/>
          </a:prstGeom>
          <a:solidFill>
            <a:srgbClr val="1F77B4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46"/>
          <p:cNvSpPr/>
          <p:nvPr/>
        </p:nvSpPr>
        <p:spPr>
          <a:xfrm>
            <a:off x="6219749" y="4572000"/>
            <a:ext cx="5505602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372454" y="4304995"/>
            <a:ext cx="171907" cy="152705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6620256" y="4286707"/>
            <a:ext cx="1381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RAG</a:t>
            </a:r>
            <a:endParaRPr lang="en-US" sz="1200" dirty="0"/>
          </a:p>
        </p:txBody>
      </p:sp>
      <p:sp>
        <p:nvSpPr>
          <p:cNvPr id="56" name="Shape 48"/>
          <p:cNvSpPr/>
          <p:nvPr/>
        </p:nvSpPr>
        <p:spPr>
          <a:xfrm>
            <a:off x="6219749" y="4581144"/>
            <a:ext cx="5505602" cy="1828800"/>
          </a:xfrm>
          <a:prstGeom prst="rect">
            <a:avLst/>
          </a:prstGeom>
          <a:solidFill>
            <a:srgbClr val="F8FAFC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49"/>
          <p:cNvSpPr txBox="1"/>
          <p:nvPr/>
        </p:nvSpPr>
        <p:spPr>
          <a:xfrm>
            <a:off x="6372454" y="6495898"/>
            <a:ext cx="497707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RAG com embeddings, busca vetorial FAISS e extração pelo agente tour_analyzer</a:t>
            </a:r>
            <a:endParaRPr lang="en-US" sz="1000" dirty="0"/>
          </a:p>
        </p:txBody>
      </p:sp>
      <p:sp>
        <p:nvSpPr>
          <p:cNvPr id="58" name="Shape 50"/>
          <p:cNvSpPr/>
          <p:nvPr/>
        </p:nvSpPr>
        <p:spPr>
          <a:xfrm>
            <a:off x="752551" y="5438851"/>
            <a:ext cx="4934102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1"/>
          <p:cNvSpPr/>
          <p:nvPr/>
        </p:nvSpPr>
        <p:spPr>
          <a:xfrm>
            <a:off x="752551" y="5533949"/>
            <a:ext cx="4934102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2"/>
          <p:cNvSpPr/>
          <p:nvPr/>
        </p:nvSpPr>
        <p:spPr>
          <a:xfrm>
            <a:off x="752551" y="5629046"/>
            <a:ext cx="4934102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3"/>
          <p:cNvSpPr/>
          <p:nvPr/>
        </p:nvSpPr>
        <p:spPr>
          <a:xfrm>
            <a:off x="752551" y="5724144"/>
            <a:ext cx="4934102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54"/>
          <p:cNvSpPr txBox="1"/>
          <p:nvPr/>
        </p:nvSpPr>
        <p:spPr>
          <a:xfrm>
            <a:off x="2510942" y="5848502"/>
            <a:ext cx="15197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Colunas estruturadas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8001914" y="4619549"/>
            <a:ext cx="304495" cy="304495"/>
          </a:xfrm>
          <a:prstGeom prst="ellipse">
            <a:avLst/>
          </a:prstGeom>
          <a:solidFill>
            <a:srgbClr val="1F77B4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77810" y="4695444"/>
            <a:ext cx="152705" cy="152705"/>
          </a:xfrm>
          <a:prstGeom prst="rect">
            <a:avLst/>
          </a:prstGeom>
        </p:spPr>
      </p:pic>
      <p:sp>
        <p:nvSpPr>
          <p:cNvPr id="65" name="Shape 56"/>
          <p:cNvSpPr/>
          <p:nvPr/>
        </p:nvSpPr>
        <p:spPr>
          <a:xfrm>
            <a:off x="8900770" y="4619549"/>
            <a:ext cx="304495" cy="304495"/>
          </a:xfrm>
          <a:prstGeom prst="ellipse">
            <a:avLst/>
          </a:prstGeom>
          <a:solidFill>
            <a:srgbClr val="1F77B4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Shape 57"/>
          <p:cNvSpPr/>
          <p:nvPr/>
        </p:nvSpPr>
        <p:spPr>
          <a:xfrm>
            <a:off x="8404250" y="5305349"/>
            <a:ext cx="304495" cy="304495"/>
          </a:xfrm>
          <a:prstGeom prst="ellipse">
            <a:avLst/>
          </a:prstGeom>
          <a:solidFill>
            <a:srgbClr val="2CA02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Shape 58"/>
          <p:cNvSpPr/>
          <p:nvPr/>
        </p:nvSpPr>
        <p:spPr>
          <a:xfrm>
            <a:off x="9393631" y="5305349"/>
            <a:ext cx="304495" cy="304495"/>
          </a:xfrm>
          <a:prstGeom prst="ellipse">
            <a:avLst/>
          </a:prstGeom>
          <a:solidFill>
            <a:srgbClr val="1F77B4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Shape 59"/>
          <p:cNvSpPr/>
          <p:nvPr/>
        </p:nvSpPr>
        <p:spPr>
          <a:xfrm>
            <a:off x="8848649" y="5991149"/>
            <a:ext cx="304495" cy="304495"/>
          </a:xfrm>
          <a:prstGeom prst="ellipse">
            <a:avLst/>
          </a:prstGeom>
          <a:solidFill>
            <a:srgbClr val="2CA02C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0"/>
          <p:cNvSpPr txBox="1"/>
          <p:nvPr/>
        </p:nvSpPr>
        <p:spPr>
          <a:xfrm>
            <a:off x="8383219" y="4686300"/>
            <a:ext cx="3959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</a:t>
            </a:r>
            <a:endParaRPr lang="en-US" sz="1000" dirty="0"/>
          </a:p>
        </p:txBody>
      </p:sp>
      <p:sp>
        <p:nvSpPr>
          <p:cNvPr id="70" name="Text 61"/>
          <p:cNvSpPr txBox="1"/>
          <p:nvPr/>
        </p:nvSpPr>
        <p:spPr>
          <a:xfrm>
            <a:off x="9281160" y="4686300"/>
            <a:ext cx="7671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Chunking</a:t>
            </a:r>
            <a:endParaRPr lang="en-US" sz="1000" dirty="0"/>
          </a:p>
        </p:txBody>
      </p:sp>
      <p:sp>
        <p:nvSpPr>
          <p:cNvPr id="71" name="Text 62"/>
          <p:cNvSpPr txBox="1"/>
          <p:nvPr/>
        </p:nvSpPr>
        <p:spPr>
          <a:xfrm>
            <a:off x="8785555" y="5372100"/>
            <a:ext cx="481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FAISS</a:t>
            </a:r>
            <a:endParaRPr lang="en-US" sz="1000" dirty="0"/>
          </a:p>
        </p:txBody>
      </p:sp>
      <p:sp>
        <p:nvSpPr>
          <p:cNvPr id="72" name="Text 63"/>
          <p:cNvSpPr txBox="1"/>
          <p:nvPr/>
        </p:nvSpPr>
        <p:spPr>
          <a:xfrm>
            <a:off x="8709660" y="4677156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pic>
        <p:nvPicPr>
          <p:cNvPr id="7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976665" y="4695444"/>
            <a:ext cx="152705" cy="152705"/>
          </a:xfrm>
          <a:prstGeom prst="rect">
            <a:avLst/>
          </a:prstGeom>
        </p:spPr>
      </p:pic>
      <p:sp>
        <p:nvSpPr>
          <p:cNvPr id="74" name="Shape 64"/>
          <p:cNvSpPr/>
          <p:nvPr/>
        </p:nvSpPr>
        <p:spPr>
          <a:xfrm>
            <a:off x="7305142" y="5305349"/>
            <a:ext cx="304495" cy="304495"/>
          </a:xfrm>
          <a:prstGeom prst="ellipse">
            <a:avLst/>
          </a:prstGeom>
          <a:solidFill>
            <a:srgbClr val="FF7F0E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65"/>
          <p:cNvSpPr txBox="1"/>
          <p:nvPr/>
        </p:nvSpPr>
        <p:spPr>
          <a:xfrm>
            <a:off x="9774936" y="5372100"/>
            <a:ext cx="9674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76" name="Text 66"/>
          <p:cNvSpPr txBox="1"/>
          <p:nvPr/>
        </p:nvSpPr>
        <p:spPr>
          <a:xfrm>
            <a:off x="9229954" y="6057900"/>
            <a:ext cx="8622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JSON/Excel</a:t>
            </a:r>
            <a:endParaRPr lang="en-US" sz="1000" dirty="0"/>
          </a:p>
        </p:txBody>
      </p:sp>
      <p:sp>
        <p:nvSpPr>
          <p:cNvPr id="77" name="Text 67"/>
          <p:cNvSpPr txBox="1"/>
          <p:nvPr/>
        </p:nvSpPr>
        <p:spPr>
          <a:xfrm>
            <a:off x="8926373" y="5020056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200" dirty="0"/>
          </a:p>
        </p:txBody>
      </p:sp>
      <p:pic>
        <p:nvPicPr>
          <p:cNvPr id="7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81951" y="5381244"/>
            <a:ext cx="152705" cy="152705"/>
          </a:xfrm>
          <a:prstGeom prst="rect">
            <a:avLst/>
          </a:prstGeom>
        </p:spPr>
      </p:pic>
      <p:sp>
        <p:nvSpPr>
          <p:cNvPr id="79" name="Shape 68"/>
          <p:cNvSpPr/>
          <p:nvPr/>
        </p:nvSpPr>
        <p:spPr>
          <a:xfrm>
            <a:off x="7954366" y="5991149"/>
            <a:ext cx="304495" cy="304495"/>
          </a:xfrm>
          <a:prstGeom prst="ellipse">
            <a:avLst/>
          </a:prstGeom>
          <a:solidFill>
            <a:srgbClr val="FF7F0E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 69"/>
          <p:cNvSpPr txBox="1"/>
          <p:nvPr/>
        </p:nvSpPr>
        <p:spPr>
          <a:xfrm>
            <a:off x="7686446" y="5372100"/>
            <a:ext cx="5961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Agente</a:t>
            </a:r>
            <a:endParaRPr lang="en-US" sz="1000" dirty="0"/>
          </a:p>
        </p:txBody>
      </p:sp>
      <p:sp>
        <p:nvSpPr>
          <p:cNvPr id="81" name="Text 70"/>
          <p:cNvSpPr txBox="1"/>
          <p:nvPr/>
        </p:nvSpPr>
        <p:spPr>
          <a:xfrm>
            <a:off x="8214055" y="5362956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←</a:t>
            </a:r>
            <a:endParaRPr lang="en-US" sz="1200" dirty="0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8490204" y="5381244"/>
            <a:ext cx="133502" cy="152705"/>
          </a:xfrm>
          <a:prstGeom prst="rect">
            <a:avLst/>
          </a:prstGeom>
        </p:spPr>
      </p:pic>
      <p:sp>
        <p:nvSpPr>
          <p:cNvPr id="83" name="Text 71"/>
          <p:cNvSpPr txBox="1"/>
          <p:nvPr/>
        </p:nvSpPr>
        <p:spPr>
          <a:xfrm>
            <a:off x="9203436" y="5362956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←</a:t>
            </a:r>
            <a:endParaRPr lang="en-US" sz="1200" dirty="0"/>
          </a:p>
        </p:txBody>
      </p:sp>
      <p:pic>
        <p:nvPicPr>
          <p:cNvPr id="84" name="Image 10" descr="preencoded.png"/>
          <p:cNvPicPr>
            <a:picLocks noChangeAspect="1"/>
          </p:cNvPicPr>
          <p:nvPr/>
        </p:nvPicPr>
        <p:blipFill>
          <a:blip r:embed="rId13"/>
          <a:srcRect t="-43" b="-43"/>
          <a:stretch/>
        </p:blipFill>
        <p:spPr>
          <a:xfrm>
            <a:off x="9479585" y="5381244"/>
            <a:ext cx="133502" cy="152705"/>
          </a:xfrm>
          <a:prstGeom prst="rect">
            <a:avLst/>
          </a:prstGeom>
        </p:spPr>
      </p:pic>
      <p:sp>
        <p:nvSpPr>
          <p:cNvPr id="85" name="Text 72"/>
          <p:cNvSpPr txBox="1"/>
          <p:nvPr/>
        </p:nvSpPr>
        <p:spPr>
          <a:xfrm>
            <a:off x="8335670" y="6057900"/>
            <a:ext cx="3858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</a:t>
            </a:r>
            <a:endParaRPr lang="en-US" sz="1000" dirty="0"/>
          </a:p>
        </p:txBody>
      </p:sp>
      <p:sp>
        <p:nvSpPr>
          <p:cNvPr id="86" name="Text 73"/>
          <p:cNvSpPr txBox="1"/>
          <p:nvPr/>
        </p:nvSpPr>
        <p:spPr>
          <a:xfrm>
            <a:off x="8926373" y="5705856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200" dirty="0"/>
          </a:p>
        </p:txBody>
      </p:sp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14"/>
          <a:srcRect t="-180" b="-180"/>
          <a:stretch/>
        </p:blipFill>
        <p:spPr>
          <a:xfrm>
            <a:off x="8011973" y="6067044"/>
            <a:ext cx="190195" cy="152705"/>
          </a:xfrm>
          <a:prstGeom prst="rect">
            <a:avLst/>
          </a:prstGeom>
        </p:spPr>
      </p:pic>
      <p:sp>
        <p:nvSpPr>
          <p:cNvPr id="88" name="Text 74"/>
          <p:cNvSpPr txBox="1"/>
          <p:nvPr/>
        </p:nvSpPr>
        <p:spPr>
          <a:xfrm>
            <a:off x="8658454" y="6048756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1200" dirty="0"/>
          </a:p>
        </p:txBody>
      </p:sp>
      <p:pic>
        <p:nvPicPr>
          <p:cNvPr id="89" name="Image 12" descr="preencoded.png"/>
          <p:cNvPicPr>
            <a:picLocks noChangeAspect="1"/>
          </p:cNvPicPr>
          <p:nvPr/>
        </p:nvPicPr>
        <p:blipFill>
          <a:blip r:embed="rId15"/>
          <a:srcRect t="-100" b="-100"/>
          <a:stretch/>
        </p:blipFill>
        <p:spPr>
          <a:xfrm>
            <a:off x="8943746" y="6067044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156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4058107"/>
            <a:ext cx="3810305" cy="3810305"/>
          </a:xfrm>
          <a:prstGeom prst="ellipse">
            <a:avLst/>
          </a:prstGeom>
          <a:solidFill>
            <a:srgbClr val="FF7F0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6534302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046159" y="6648602"/>
            <a:ext cx="3010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305" y="1257300"/>
            <a:ext cx="571500" cy="571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000500" y="1257300"/>
            <a:ext cx="571500" cy="571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619695" y="1257300"/>
            <a:ext cx="571500" cy="571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1239805" y="1257300"/>
            <a:ext cx="571500" cy="571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573329" y="1447495"/>
            <a:ext cx="305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77894" y="1447495"/>
            <a:ext cx="333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97089" y="1447495"/>
            <a:ext cx="333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08054" y="1447495"/>
            <a:ext cx="352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9905" y="448056"/>
            <a:ext cx="522488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🔮 Roadmap de Evolução (Fase 2)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977433" y="2295144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✨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977433" y="2295144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77433" y="2295144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🔗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77433" y="2295144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79146" y="1904695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098341" y="1904695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18450" y="1904695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37646" y="1904695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1305" y="2723998"/>
            <a:ext cx="466344" cy="457200"/>
          </a:xfrm>
          <a:prstGeom prst="roundRect">
            <a:avLst>
              <a:gd name="adj" fmla="val 50000"/>
            </a:avLst>
          </a:prstGeom>
          <a:solidFill>
            <a:srgbClr val="FFE4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381305" y="3409798"/>
            <a:ext cx="466344" cy="457200"/>
          </a:xfrm>
          <a:prstGeom prst="roundRect">
            <a:avLst>
              <a:gd name="adj" fmla="val 50000"/>
            </a:avLst>
          </a:prstGeom>
          <a:solidFill>
            <a:srgbClr val="E6F3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381305" y="4095598"/>
            <a:ext cx="466344" cy="457200"/>
          </a:xfrm>
          <a:prstGeom prst="roundRect">
            <a:avLst>
              <a:gd name="adj" fmla="val 50000"/>
            </a:avLst>
          </a:prstGeom>
          <a:solidFill>
            <a:srgbClr val="E6F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381305" y="4781398"/>
            <a:ext cx="466344" cy="457200"/>
          </a:xfrm>
          <a:prstGeom prst="roundRect">
            <a:avLst>
              <a:gd name="adj" fmla="val 50000"/>
            </a:avLst>
          </a:prstGeom>
          <a:solidFill>
            <a:srgbClr val="FFE4B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381305" y="5467198"/>
            <a:ext cx="466344" cy="457200"/>
          </a:xfrm>
          <a:prstGeom prst="roundRect">
            <a:avLst>
              <a:gd name="adj" fmla="val 50000"/>
            </a:avLst>
          </a:prstGeom>
          <a:solidFill>
            <a:srgbClr val="E6FF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495605" y="2838298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7F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✨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95605" y="3524098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95605" y="4209898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A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🔗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95605" y="4895698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7F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🔄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95605" y="5581498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A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99439" y="274320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Interface Profissional (UX/UI)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99439" y="3429000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Escalável (API REST)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99439" y="4114800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Integrações Empresariais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9439" y="4800600"/>
            <a:ext cx="2820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Processamento Assíncrono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99439" y="5486400"/>
            <a:ext cx="2839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Fluxos (n8n)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99439" y="3010205"/>
            <a:ext cx="5572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React/Next.js com autenticação e histórico de processamento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99439" y="3696005"/>
            <a:ext cx="5734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+ infraestrutura cloud (AWS/GCP) para processamento distribuído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99439" y="4381805"/>
            <a:ext cx="37536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Conexão com Salesforce/CRM da iFriend via API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99439" y="5067605"/>
            <a:ext cx="6182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Filas (Redis/RabbitMQ) para processar múltiplos documentos simultaneamente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99439" y="5753405"/>
            <a:ext cx="49725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Orquestração de pastas monitoradas e pipelines automatizados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0737799" y="6420002"/>
            <a:ext cx="1239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Feito com Genspark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100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1F77B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-952805" y="4345229"/>
            <a:ext cx="3810305" cy="3810305"/>
          </a:xfrm>
          <a:prstGeom prst="ellipse">
            <a:avLst/>
          </a:prstGeom>
          <a:solidFill>
            <a:srgbClr val="FF7F0E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6821424"/>
            <a:ext cx="12191695" cy="381305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211666" y="6926580"/>
            <a:ext cx="2839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Tour Extraction System • Grupo 287 • I2A2 Academy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667098" y="619049"/>
            <a:ext cx="3439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🏁 Obrigado!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81305" y="1429207"/>
            <a:ext cx="11430000" cy="1181405"/>
          </a:xfrm>
          <a:prstGeom prst="roundRect">
            <a:avLst>
              <a:gd name="adj" fmla="val 6242"/>
            </a:avLst>
          </a:prstGeom>
          <a:solidFill>
            <a:srgbClr val="F0F9FF"/>
          </a:solidFill>
          <a:ln w="25400">
            <a:solidFill>
              <a:srgbClr val="1F77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5053889" y="1619402"/>
            <a:ext cx="2229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EXECUTIVO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43838" y="2009851"/>
            <a:ext cx="24533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 92% redução de tempo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053535" y="2009851"/>
            <a:ext cx="27678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 99,9% economia de custos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55510" y="2009851"/>
            <a:ext cx="16724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 95%+ acurácia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6743" y="2009851"/>
            <a:ext cx="15480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 Sistema RAG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75358" y="2257654"/>
            <a:ext cx="9674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(3h → 10min)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21631" y="2257654"/>
            <a:ext cx="11960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(R$60 → R$0,03)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969557" y="2257654"/>
            <a:ext cx="18150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Agentes Autônomos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257654"/>
            <a:ext cx="18909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funcionando em produção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1305" y="3029407"/>
            <a:ext cx="3429000" cy="2276856"/>
          </a:xfrm>
          <a:prstGeom prst="roundRect">
            <a:avLst>
              <a:gd name="adj" fmla="val 134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1" y="3219602"/>
            <a:ext cx="237744" cy="19019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381805" y="3029407"/>
            <a:ext cx="3429000" cy="2276856"/>
          </a:xfrm>
          <a:prstGeom prst="roundRect">
            <a:avLst>
              <a:gd name="adj" fmla="val 134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8382305" y="3029407"/>
            <a:ext cx="3429000" cy="2276856"/>
          </a:xfrm>
          <a:prstGeom prst="roundRect">
            <a:avLst>
              <a:gd name="adj" fmla="val 1344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838505" y="3172054"/>
            <a:ext cx="2105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EQUIPE GRUPO 287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791456" y="3172054"/>
            <a:ext cx="12289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CONTATOS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8781898" y="3172054"/>
            <a:ext cx="1524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77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REPOSITÓRIO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23951" y="3562502"/>
            <a:ext cx="103875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Bruno Leão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23951" y="3791102"/>
            <a:ext cx="1047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Victor Hugo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23951" y="4019702"/>
            <a:ext cx="10863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Jander Alves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23951" y="4248302"/>
            <a:ext cx="1952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Gleice Clementino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523951" y="4476902"/>
            <a:ext cx="12765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Wagner Lemos</a:t>
            </a:r>
            <a:endParaRPr lang="en-US" sz="12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4451" y="3219602"/>
            <a:ext cx="190195" cy="19019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4524451" y="3562502"/>
            <a:ext cx="19147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grupo287@i2a2.academy</a:t>
            </a:r>
            <a:endParaRPr lang="en-US" sz="12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4524451" y="3819449"/>
            <a:ext cx="133502" cy="15270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4657954" y="3791102"/>
            <a:ext cx="27724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linkedin.com/company/i2a2-academy</a:t>
            </a:r>
            <a:endParaRPr lang="en-US" sz="12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 t="-884" b="-884"/>
          <a:stretch/>
        </p:blipFill>
        <p:spPr>
          <a:xfrm>
            <a:off x="8524951" y="3219602"/>
            <a:ext cx="181051" cy="19019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524951" y="356250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github.com/victorhss21/I2A2_trabalho_final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9525305" y="3781044"/>
            <a:ext cx="1143000" cy="1143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rcRect l="-9" r="-9"/>
          <a:stretch/>
        </p:blipFill>
        <p:spPr>
          <a:xfrm>
            <a:off x="9763049" y="3972154"/>
            <a:ext cx="666598" cy="761695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092794" y="4972507"/>
            <a:ext cx="210129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Escaneie para acessar o repositório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381305" y="5526634"/>
            <a:ext cx="11430000" cy="914400"/>
          </a:xfrm>
          <a:prstGeom prst="roundRect">
            <a:avLst>
              <a:gd name="adj" fmla="val 8333"/>
            </a:avLst>
          </a:prstGeom>
          <a:solidFill>
            <a:srgbClr val="FFF8F0"/>
          </a:solidFill>
          <a:ln w="25400">
            <a:solidFill>
              <a:srgbClr val="FF7F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194353" y="5731459"/>
            <a:ext cx="190195" cy="19019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4461358" y="5716829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Espaço para Perguntas e Respostas</a:t>
            </a:r>
            <a:endParaRPr lang="en-US" sz="1500" dirty="0"/>
          </a:p>
        </p:txBody>
      </p:sp>
      <p:sp>
        <p:nvSpPr>
          <p:cNvPr id="43" name="Text 35"/>
          <p:cNvSpPr txBox="1"/>
          <p:nvPr/>
        </p:nvSpPr>
        <p:spPr>
          <a:xfrm>
            <a:off x="4348886" y="6059729"/>
            <a:ext cx="3610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Estamos à disposição para esclarecer dúvidas!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1085</Words>
  <Application>Microsoft Macintosh PowerPoint</Application>
  <PresentationFormat>Widescreen</PresentationFormat>
  <Paragraphs>237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Montserrat</vt:lpstr>
      <vt:lpstr>Open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BRUNO CARNEIRO LEAO</cp:lastModifiedBy>
  <cp:revision>6</cp:revision>
  <dcterms:created xsi:type="dcterms:W3CDTF">2025-11-02T22:24:00Z</dcterms:created>
  <dcterms:modified xsi:type="dcterms:W3CDTF">2025-11-03T04:56:11Z</dcterms:modified>
</cp:coreProperties>
</file>